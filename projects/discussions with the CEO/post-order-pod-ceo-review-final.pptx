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71b3928764dfb" /><Relationship Type="http://schemas.openxmlformats.org/officeDocument/2006/relationships/extended-properties" Target="/docProps/app.xml" Id="R4b41a4a24383490b" /><Relationship Type="http://schemas.openxmlformats.org/officeDocument/2006/relationships/officeDocument" Target="/ppt/presentation.xml" Id="R1f9c17d7cbf4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d39aef1bcd4fd8"/>
  </p:sldMasterIdLst>
  <p:notesMasterIdLst>
    <p:notesMasterId xmlns:r="http://schemas.openxmlformats.org/officeDocument/2006/relationships" r:id="Rda504b4a1c6741d3"/>
  </p:notesMasterIdLst>
  <p:sldIdLst>
    <p:sldId xmlns:r="http://schemas.openxmlformats.org/officeDocument/2006/relationships" id="256" r:id="R5c263e3b45584c00"/>
    <p:sldId xmlns:r="http://schemas.openxmlformats.org/officeDocument/2006/relationships" id="257" r:id="Rf6c41d7409bd4061"/>
    <p:sldId xmlns:r="http://schemas.openxmlformats.org/officeDocument/2006/relationships" id="258" r:id="R616b17fa78e04855"/>
    <p:sldId xmlns:r="http://schemas.openxmlformats.org/officeDocument/2006/relationships" id="259" r:id="Rc312b13c84b74251"/>
    <p:sldId xmlns:r="http://schemas.openxmlformats.org/officeDocument/2006/relationships" id="260" r:id="Ra4f80266fbd34437"/>
    <p:sldId xmlns:r="http://schemas.openxmlformats.org/officeDocument/2006/relationships" id="261" r:id="Ra04649134d3747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85c2d7ecfe42dc" /><Relationship Type="http://schemas.openxmlformats.org/officeDocument/2006/relationships/slideMaster" Target="/ppt/slideMasters/slideMaster1.xml" Id="Rf2d39aef1bcd4fd8" /><Relationship Type="http://schemas.openxmlformats.org/officeDocument/2006/relationships/notesMaster" Target="/ppt/notesMasters/notesMaster1.xml" Id="Rda504b4a1c6741d3" /><Relationship Type="http://schemas.openxmlformats.org/officeDocument/2006/relationships/presProps" Target="/ppt/presProps.xml" Id="R8112689d739e44a6" /><Relationship Type="http://schemas.openxmlformats.org/officeDocument/2006/relationships/tableStyles" Target="/ppt/tableStyles.xml" Id="Rd53257e16b5b4ed5" /><Relationship Type="http://schemas.openxmlformats.org/officeDocument/2006/relationships/slide" Target="/ppt/slides/slide1.xml" Id="R5c263e3b45584c00" /><Relationship Type="http://schemas.openxmlformats.org/officeDocument/2006/relationships/slide" Target="/ppt/slides/slide2.xml" Id="Rf6c41d7409bd4061" /><Relationship Type="http://schemas.openxmlformats.org/officeDocument/2006/relationships/slide" Target="/ppt/slides/slide3.xml" Id="R616b17fa78e04855" /><Relationship Type="http://schemas.openxmlformats.org/officeDocument/2006/relationships/slide" Target="/ppt/slides/slide4.xml" Id="Rc312b13c84b74251" /><Relationship Type="http://schemas.openxmlformats.org/officeDocument/2006/relationships/slide" Target="/ppt/slides/slide5.xml" Id="Ra4f80266fbd34437" /><Relationship Type="http://schemas.openxmlformats.org/officeDocument/2006/relationships/slide" Target="/ppt/slides/slide6.xml" Id="Ra04649134d3747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e2e76c7725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8bf2feeeb4c21" /><Relationship Type="http://schemas.openxmlformats.org/officeDocument/2006/relationships/notesMaster" Target="/ppt/notesMasters/notesMaster1.xml" Id="Rc6c71317202941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e27c8f5324ebd" /><Relationship Type="http://schemas.openxmlformats.org/officeDocument/2006/relationships/notesMaster" Target="/ppt/notesMasters/notesMaster1.xml" Id="Rbb4bbdc4622544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74d7269d44f8b" /><Relationship Type="http://schemas.openxmlformats.org/officeDocument/2006/relationships/notesMaster" Target="/ppt/notesMasters/notesMaster1.xml" Id="R3bb24b14e7a3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931d723b744418" /><Relationship Type="http://schemas.openxmlformats.org/officeDocument/2006/relationships/notesMaster" Target="/ppt/notesMasters/notesMaster1.xml" Id="R6068ebaff1354a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7e61168f754b9d" /><Relationship Type="http://schemas.openxmlformats.org/officeDocument/2006/relationships/notesMaster" Target="/ppt/notesMasters/notesMaster1.xml" Id="R37f47121a67049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6aa03fa97e400f" /><Relationship Type="http://schemas.openxmlformats.org/officeDocument/2006/relationships/notesMaster" Target="/ppt/notesMasters/notesMaster1.xml" Id="R8670263211534f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20c9f09c2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de7d0c6214617" /><Relationship Type="http://schemas.openxmlformats.org/officeDocument/2006/relationships/slideLayout" Target="/ppt/slideLayouts/slideLayout1.xml" Id="Ra728403e842d41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28403e842d41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92eb20c254946" /><Relationship Type="http://schemas.openxmlformats.org/officeDocument/2006/relationships/notesSlide" Target="/ppt/notesSlides/notesSlide1.xml" Id="Rb148f77a4c464b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ebff3fb1149c0" /><Relationship Type="http://schemas.openxmlformats.org/officeDocument/2006/relationships/chart" Target="/ppt/slides/charts/chart1.xml" Id="R0b44e5125be74485" /><Relationship Type="http://schemas.openxmlformats.org/officeDocument/2006/relationships/notesSlide" Target="/ppt/notesSlides/notesSlide2.xml" Id="R426db4e88f57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c37da295143ad" /><Relationship Type="http://schemas.openxmlformats.org/officeDocument/2006/relationships/notesSlide" Target="/ppt/notesSlides/notesSlide3.xml" Id="R6e3f213f16fc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12674a0134190" /><Relationship Type="http://schemas.openxmlformats.org/officeDocument/2006/relationships/notesSlide" Target="/ppt/notesSlides/notesSlide4.xml" Id="R641c537d604f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1a9df8f1e44dc" /><Relationship Type="http://schemas.openxmlformats.org/officeDocument/2006/relationships/notesSlide" Target="/ppt/notesSlides/notesSlide5.xml" Id="Ra43d0d0323394e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f4a87b364195" /><Relationship Type="http://schemas.openxmlformats.org/officeDocument/2006/relationships/notesSlide" Target="/ppt/notesSlides/notesSlide6.xml" Id="R5ea7aaf4dd7b44a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HA CPO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Start of FY</c:v>
              </c:pt>
              <c:pt idx="1">
                <c:v>Today</c:v>
              </c:pt>
            </c:strLit>
          </c:cat>
          <c:val>
            <c:numLit>
              <c:formatCode>General</c:formatCode>
              <c:ptCount val="2"/>
              <c:pt idx="0">
                <c:v>16.5</c:v>
              </c:pt>
              <c:pt idx="1">
                <c:v>7.8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CB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75DDC-22D7-43F6-8291-5890E7C4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CEO DISCUSSION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90817-0E25-4395-86ED-C8AF522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Foundational work became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measurable business leverage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5D9E-DA4E-41E6-8907-B8DAC388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A73"/>
                </a:solidFill>
              </a:defRPr>
            </a:pPr>
            <a:r>
              <a:rPr sz="1800" b="1">
                <a:solidFill>
                  <a:srgbClr val="666A73"/>
                </a:solidFill>
              </a:rPr>
              <a:t>Payments + Portals pod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ECC94-3DB0-42D4-B34A-AA35812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B740-D067-4A97-BD0F-3CCDA7A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A73"/>
                </a:solidFill>
              </a:defRPr>
            </a:pPr>
            <a:r>
              <a:rPr sz="1650" b="0">
                <a:solidFill>
                  <a:srgbClr val="666A73"/>
                </a:solidFill>
              </a:rPr>
              <a:t>Impact created → Cart unblocked → Scope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D82D-68D2-4227-BE9B-68A8DEF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A73"/>
                </a:solidFill>
              </a:defRPr>
            </a:pPr>
            <a:r>
              <a:rPr sz="1425" b="0">
                <a:solidFill>
                  <a:srgbClr val="666A73"/>
                </a:solidFill>
              </a:rPr>
              <a:t>Product focus: remove throwaway OMS work, expose gaps, and help Cart move faster.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F65C5-063B-4285-A1E2-00427D5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050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44AE2-8DE1-440B-AEA7-7BE94C4A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IMPACT CREATED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BC490-35FE-4995-A7A2-24838C2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Six engineers turned recurring failures into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D1B1-3F2F-4D93-B9AC-08F91A5C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4 Portals + 2 Payments | impact spans cost, capacity, reliability, and order progression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2EEBE-F2B0-400C-B3B3-0699418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HA CPO per order — approximate values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4476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44e5125be744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4AC57-BFDF-4BD0-90B5-7CD18E2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56959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778CC-E99A-4F6B-BA47-DE3FD77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≈₹67L/month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D9916-0027-4F49-AA2D-B7ADDCC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A73"/>
                </a:solidFill>
              </a:defRPr>
            </a:pPr>
            <a:r>
              <a:rPr sz="1350" b="1">
                <a:solidFill>
                  <a:srgbClr val="666A73"/>
                </a:solidFill>
              </a:rPr>
              <a:t>Conservative HA CPO saving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3F0F8-3141-4003-AC78-49DC56D9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₹8/order/day × 28,000 orders/day × 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A5EE7-E9E9-4782-9A12-A2348E1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A73"/>
                </a:solidFill>
              </a:defRPr>
            </a:pPr>
            <a:r>
              <a:rPr sz="1050" b="0">
                <a:solidFill>
                  <a:srgbClr val="666A73"/>
                </a:solidFill>
              </a:rPr>
              <a:t>Exact ₹8.7 reduction implies ≈₹73L/month. Verify denominator and period.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76C89-3854-44FE-841D-0DF09FA9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Engineering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AC176-83BC-4371-A445-E3C57901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Q1: 3 of 4 Portal engineers handled live Doctor/HA bugs + KTLO. Today: 1 on-call handles recurring load and contributes to functional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D9C54-6A92-47AD-8267-5586FD20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E8110-CA10-4F81-993C-0060461F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Order progression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F1402-EBBC-4D13-98EE-A8E68C3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Payment-pending: 1,500+ → 200–300/day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76056-686C-4AE0-A51F-74D962BB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C5FAC-3642-4ADA-B53D-6AB38EE5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Confirmation failures: near-zero daily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6D627-A5FF-4085-BA03-4004C0E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A73"/>
                </a:solidFill>
              </a:defRPr>
            </a:pPr>
            <a:r>
              <a:rPr sz="1275" b="1">
                <a:solidFill>
                  <a:srgbClr val="666A73"/>
                </a:solidFill>
              </a:rPr>
              <a:t>Engineering man-days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1D5C0-7C7B-487B-B6BB-C22D6AF5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81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4–8 avoided/month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7395C-831F-4992-9836-D6268BA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A73"/>
                </a:solidFill>
              </a:defRPr>
            </a:pPr>
            <a:r>
              <a:rPr sz="1050" b="0">
                <a:solidFill>
                  <a:srgbClr val="666A73"/>
                </a:solidFill>
              </a:rPr>
              <a:t>Value-Meds example: 4 incidents × 2 engineers × 0.5–1 day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E87F4-D642-4CCC-B94F-AF970AF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9895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63093F-F1ED-4682-9FE2-C949752D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BUSINESS ASKS DELIVERED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07AA-086B-45EE-BC60-6445FDD3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Business asks became delivered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494C1-C374-4A0C-B57F-B09C2621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A73"/>
                </a:solidFill>
              </a:defRPr>
            </a:pPr>
            <a:r>
              <a:rPr sz="1425" b="0">
                <a:solidFill>
                  <a:srgbClr val="666A73"/>
                </a:solidFill>
              </a:rPr>
              <a:t>Selected examples across Payments + Portals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7C546-4B47-4283-8274-5A38F46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NFS salts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EFF7B-23A5-45FD-A8E8-8615251D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Enabled a direct business ask; unlocked sales opportunity of up to ₹2Cr.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E2A7C-AC33-4B14-A8D0-E64DC7A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EBA8F-74EC-42E1-A65F-FC84EB3B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Voice bot + Ring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F47C2-3C85-45CC-944A-018DC4F9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Delivered both voice-bot phases; prepared platform and quick-pilot paths before Ring AI commercial closure.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4D7CE-5BAF-4B3F-96CE-D3813E95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DEE14-A306-4BA9-99E3-CB921274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Valid-Rx categorisation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5C1AB-4411-44DC-B0AE-0A45A06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Cursor-logic fallback created a safe testing ground for substitution hypothesis.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93E75-6143-40B3-B46B-C9392B8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C4457-BA54-4755-B1F2-7EDD1654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Call-skipping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20FF1-1EC1-474F-A688-FED1EFE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Carried customer call preference across relevant workflows; reduced unnecessary outreach.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943AD-0488-4053-B986-FE34FB5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8C716-A987-4CA1-8714-8D9E9945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Payment + order states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C0B0E-301A-4D40-8EAF-6A8D910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Fixed incomplete, payment-pending, and decimal-mismatch paths; 1,500+ → 200–300 payment-pending orders/day.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B6671-98B2-4986-9461-A1B6FF34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F4E2D-0F22-4A99-8C02-CB7483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Confirmation reliability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6F61C-52B1-4277-B57C-E880DACF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Separated internal from telecom failures; confirmation failures moved to near-zero daily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96DAC-7C47-44B0-94E8-54FFA68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5B548-766F-47EA-AC54-3A52F0DD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Value-Meds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63EB4-D041-45A5-A530-05E40079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Business-controlled telecom toggle; no recurring tech dependency; 4–8 engineer-days/month avoided.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D0F74-2CCA-4886-BB38-105EFFB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91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25C4B-D5B8-421F-B9DC-107D3B7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Pharmacist Portal efficiency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21595-AB95-4957-9E12-60506A3D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A73"/>
                </a:solidFill>
              </a:defRPr>
            </a:pPr>
            <a:r>
              <a:rPr sz="1125" b="0">
                <a:solidFill>
                  <a:srgbClr val="666A73"/>
                </a:solidFill>
              </a:rPr>
              <a:t>Removed workflow gaps; supported lower pharmacist effort/headcount pressure and CPO reduction.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CEDFB-5CC7-4135-AA00-0A6B45D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D7A76-ACAC-4A13-A9E5-EBBF9C23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A73"/>
                </a:solidFill>
              </a:defRPr>
            </a:pPr>
            <a:r>
              <a:rPr sz="1425" b="1">
                <a:solidFill>
                  <a:srgbClr val="666A73"/>
                </a:solidFill>
              </a:rPr>
              <a:t>Pattern: business need → foundational capability → measurable customer, cost, reliability, or capacity impact.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E5C4D-B375-4F2A-9657-2EFE4571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20745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07901-AECA-4375-BDDD-18463700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CART UNBLOCKING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400B5-FE70-4008-8E4D-B7BAC0B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Product is accelerating Cart by removing throwaway OMS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7E08B-8C84-4BDD-989F-92DF32D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3"/>
                </a:solidFill>
              </a:defRPr>
            </a:pPr>
            <a:r>
              <a:rPr sz="1500" b="0">
                <a:solidFill>
                  <a:srgbClr val="666A73"/>
                </a:solidFill>
              </a:rPr>
              <a:t>New OMS adoption requires Portal and Payment migration. Product is reducing ambiguity before Engineering builds.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97D08-D233-484D-85D2-A1921F24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777D2-1856-4581-A24B-09ECF782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6A73"/>
                </a:solidFill>
              </a:defRPr>
            </a:pPr>
            <a:r>
              <a:rPr sz="1425" b="1">
                <a:solidFill>
                  <a:srgbClr val="666A73"/>
                </a:solidFill>
              </a:rPr>
              <a:t>Super Doctor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CB090-C27D-4372-BE76-CA7D1209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11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AF059-7D70-4C61-9188-A386DD41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432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EC1BB-DCE4-4F32-85AC-CAFC92C5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1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3D8DFF"/>
                </a:solidFill>
              </a:defRPr>
            </a:pPr>
            <a:r>
              <a:rPr sz="5700" b="1">
                <a:solidFill>
                  <a:srgbClr val="3D8DFF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8DBF1-5005-4C49-B1A7-7ED7AC2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existing 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F73F7-41E9-4BCB-9343-722468E9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useful features</a:t>
            </a:r>
          </a:p>
          <a:p xmlns:a="http://schemas.openxmlformats.org/drawingml/2006/main">
            <a:pPr algn="l">
              <a:defRPr sz="1275" b="0">
                <a:solidFill>
                  <a:srgbClr val="666A73"/>
                </a:solidFill>
              </a:defRPr>
            </a:pPr>
            <a:r>
              <a:rPr sz="1275" b="0">
                <a:solidFill>
                  <a:srgbClr val="666A73"/>
                </a:solidFill>
              </a:rPr>
              <a:t>selected for migration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B36A6-5541-4B54-A93F-61FAA2BC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33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Product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3BE2D-0BD0-49E6-A7C5-A8BE547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map actual usage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separate useful from redundant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avoid throwaway development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expose cross-portal gaps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align scope before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6BE07-2B8B-4983-B38A-26B091F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0337A-59D0-4B4F-B1DB-4E1B2040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6A73"/>
                </a:solidFill>
              </a:defRPr>
            </a:pPr>
            <a:r>
              <a:rPr sz="1650" b="1">
                <a:solidFill>
                  <a:srgbClr val="666A73"/>
                </a:solidFill>
              </a:rPr>
              <a:t>Result: less rework, faster decisions, quicker Cart delivery with lower migration scope.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65995-B62A-419E-AF40-E8CA5DE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2893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B6671-E65C-42B6-BD2B-B838309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ENHANCEMENT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52EA1-DE77-4765-A00A-D4AE966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Migration is exposing a higher-leverage commerce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ABEBB-0F47-4330-804C-3509B0C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A73"/>
                </a:solidFill>
              </a:defRPr>
            </a:pPr>
            <a:r>
              <a:rPr sz="1500" b="0">
                <a:solidFill>
                  <a:srgbClr val="666A73"/>
                </a:solidFill>
              </a:rPr>
              <a:t>Enhancements are identified today, not implemented in current 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AAAF9-79BB-4845-8C9F-FCF0ABA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9E60B-888F-482D-B063-7E853400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Call-preference propagation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3E472-9138-4635-8168-8CD744D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Customers opting out of HA calls also skip Assisted Commerce calls, except mandatory Doctor calls.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B26A9-F0A6-464F-8B6D-4B850FA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448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E5DE-FE3F-4EC2-8E49-EFE60483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Configurable agent categorisation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0C06F-1A8E-4498-ADC2-D7EC2777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Categorise agents uniquely across portals and route orders/customers using relevant signals (rule engine).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22D3F-1AC9-47AF-9C5B-58D17D6E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0D495-1DE6-49A2-A257-75B1947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A73"/>
                </a:solidFill>
              </a:defRPr>
            </a:pPr>
            <a:r>
              <a:rPr sz="1350" b="1">
                <a:solidFill>
                  <a:srgbClr val="666A73"/>
                </a:solidFill>
              </a:rPr>
              <a:t>Longer-term direction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3453E-98CC-4B67-A65B-CA5E8D8E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Unified commerce capabilities across Type 1, Pill Reminder, Assisted Commerce, and CSR journeys.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83D56-C46C-436C-9C5C-E5B16A20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15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A73"/>
                </a:solidFill>
              </a:defRPr>
            </a:pPr>
            <a:r>
              <a:rPr sz="1350" b="0">
                <a:solidFill>
                  <a:srgbClr val="666A73"/>
                </a:solidFill>
              </a:rPr>
              <a:t>Faster experimentation and GTM with lower recurring Product + Engineering dependency.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252A5-CC00-4FCD-8BA8-3AD1203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5329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5B360-5A5E-4D62-AAB2-65C95A9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3CD7E-709A-43A9-A311-60E2A5C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Protect Cart date or use migration window for selected enhancements?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446E2-2C4C-4420-9BF3-DB4EF36A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0C1EA-3EE0-404C-A425-7801FA3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Migrate reduced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9D9DF-17CF-4567-A62C-CD71FBD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protect Cart delivery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migrate only useful capability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defer known gaps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accept future rework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76EBC-A6FC-45E4-8689-696F0EE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44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8FEF0-D89D-438A-B79C-90FEE85F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Enhance + migrate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7B7C3-B431-44D9-859A-2C6C28C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fix selected high-impact gaps now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improve cross-portal capability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reduce future rework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accept Cart-date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EBF47-0595-4ACF-B9F6-E00DE0C2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7689B-2DA2-46E4-8BCF-93017058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CEO decision: which scope should this migration phase carry?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EDBBE-FFB6-4D50-9E16-B39F1A43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A73"/>
                </a:solidFill>
              </a:defRPr>
            </a:pPr>
            <a:r>
              <a:rPr sz="900" b="1">
                <a:solidFill>
                  <a:srgbClr val="666A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4284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2026-08-19T09:28:04.9260000Z</dcterms:created>
  <dcterms:modified xsi:type="dcterms:W3CDTF">2026-08-19T09:28:04.9260000Z</dcterms:modified>
</coreProperties>
</file>