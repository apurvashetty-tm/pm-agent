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d94742ae044109" /><Relationship Type="http://schemas.openxmlformats.org/officeDocument/2006/relationships/extended-properties" Target="/docProps/app.xml" Id="R35d996b3866d4538" /><Relationship Type="http://schemas.openxmlformats.org/officeDocument/2006/relationships/officeDocument" Target="/ppt/presentation.xml" Id="R116f459ddd9d4c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773c8fca704b00"/>
  </p:sldMasterIdLst>
  <p:notesMasterIdLst>
    <p:notesMasterId xmlns:r="http://schemas.openxmlformats.org/officeDocument/2006/relationships" r:id="R6810dee552b34897"/>
  </p:notesMasterIdLst>
  <p:sldIdLst>
    <p:sldId xmlns:r="http://schemas.openxmlformats.org/officeDocument/2006/relationships" id="256" r:id="R99497f352ba74697"/>
    <p:sldId xmlns:r="http://schemas.openxmlformats.org/officeDocument/2006/relationships" id="257" r:id="R474c4663cdd8404f"/>
    <p:sldId xmlns:r="http://schemas.openxmlformats.org/officeDocument/2006/relationships" id="258" r:id="Ra9b8db0a1f9f4d3a"/>
    <p:sldId xmlns:r="http://schemas.openxmlformats.org/officeDocument/2006/relationships" id="259" r:id="R7205e19683b44e9c"/>
    <p:sldId xmlns:r="http://schemas.openxmlformats.org/officeDocument/2006/relationships" id="260" r:id="R85c74b84ab974c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df5bc8460a46ba" /><Relationship Type="http://schemas.openxmlformats.org/officeDocument/2006/relationships/slideMaster" Target="/ppt/slideMasters/slideMaster1.xml" Id="Re7773c8fca704b00" /><Relationship Type="http://schemas.openxmlformats.org/officeDocument/2006/relationships/notesMaster" Target="/ppt/notesMasters/notesMaster1.xml" Id="R6810dee552b34897" /><Relationship Type="http://schemas.openxmlformats.org/officeDocument/2006/relationships/presProps" Target="/ppt/presProps.xml" Id="R01b922bc634346c7" /><Relationship Type="http://schemas.openxmlformats.org/officeDocument/2006/relationships/tableStyles" Target="/ppt/tableStyles.xml" Id="R8557c2f632194775" /><Relationship Type="http://schemas.openxmlformats.org/officeDocument/2006/relationships/slide" Target="/ppt/slides/slide1.xml" Id="R99497f352ba74697" /><Relationship Type="http://schemas.openxmlformats.org/officeDocument/2006/relationships/slide" Target="/ppt/slides/slide2.xml" Id="R474c4663cdd8404f" /><Relationship Type="http://schemas.openxmlformats.org/officeDocument/2006/relationships/slide" Target="/ppt/slides/slide3.xml" Id="Ra9b8db0a1f9f4d3a" /><Relationship Type="http://schemas.openxmlformats.org/officeDocument/2006/relationships/slide" Target="/ppt/slides/slide4.xml" Id="R7205e19683b44e9c" /><Relationship Type="http://schemas.openxmlformats.org/officeDocument/2006/relationships/slide" Target="/ppt/slides/slide5.xml" Id="R85c74b84ab974c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d920a348984d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02fdbd4034c35" /><Relationship Type="http://schemas.openxmlformats.org/officeDocument/2006/relationships/notesMaster" Target="/ppt/notesMasters/notesMaster1.xml" Id="Raec323d48d97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ee0541024747e8" /><Relationship Type="http://schemas.openxmlformats.org/officeDocument/2006/relationships/notesMaster" Target="/ppt/notesMasters/notesMaster1.xml" Id="R1a2fcc4fba1f40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5df3d04cdc4c32" /><Relationship Type="http://schemas.openxmlformats.org/officeDocument/2006/relationships/notesMaster" Target="/ppt/notesMasters/notesMaster1.xml" Id="Rcd5e171e6aa148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1aeab1d7c5420f" /><Relationship Type="http://schemas.openxmlformats.org/officeDocument/2006/relationships/notesMaster" Target="/ppt/notesMasters/notesMaster1.xml" Id="Reafe8b2c648f41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4eab4f3a4a4df9" /><Relationship Type="http://schemas.openxmlformats.org/officeDocument/2006/relationships/notesMaster" Target="/ppt/notesMasters/notesMaster1.xml" Id="R8ce86858fd8448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531eeb6334a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c33e5dfcaa4a99" /><Relationship Type="http://schemas.openxmlformats.org/officeDocument/2006/relationships/slideLayout" Target="/ppt/slideLayouts/slideLayout1.xml" Id="Rcde035fc6a6c43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e035fc6a6c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04ae477574e90" /><Relationship Type="http://schemas.openxmlformats.org/officeDocument/2006/relationships/notesSlide" Target="/ppt/notesSlides/notesSlide1.xml" Id="Ra215a3c978fe44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3c24624cd4e52" /><Relationship Type="http://schemas.openxmlformats.org/officeDocument/2006/relationships/chart" Target="/ppt/slides/charts/chart1.xml" Id="R1cdb611e6efc4d15" /><Relationship Type="http://schemas.openxmlformats.org/officeDocument/2006/relationships/notesSlide" Target="/ppt/notesSlides/notesSlide2.xml" Id="R72befcc0e0fd42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ea08595e44334" /><Relationship Type="http://schemas.openxmlformats.org/officeDocument/2006/relationships/notesSlide" Target="/ppt/notesSlides/notesSlide3.xml" Id="R61717481b76347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29910d5084eaa" /><Relationship Type="http://schemas.openxmlformats.org/officeDocument/2006/relationships/notesSlide" Target="/ppt/notesSlides/notesSlide4.xml" Id="R2c89e603725a45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eb208faab4661" /><Relationship Type="http://schemas.openxmlformats.org/officeDocument/2006/relationships/notesSlide" Target="/ppt/notesSlides/notesSlide5.xml" Id="R8fc17746bae34d9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HA CPO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Start of FY</c:v>
              </c:pt>
              <c:pt idx="1">
                <c:v>Today</c:v>
              </c:pt>
            </c:strLit>
          </c:cat>
          <c:val>
            <c:numLit>
              <c:formatCode>General</c:formatCode>
              <c:ptCount val="2"/>
              <c:pt idx="0">
                <c:v>16.5</c:v>
              </c:pt>
              <c:pt idx="1">
                <c:v>7.8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CB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86910-73E2-4887-9706-571D923C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CEO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48ACC-073E-43D3-A4E7-45E23075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Foundational work became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measurable business leverage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5C944-15C7-41CF-9715-702354EE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6A73"/>
                </a:solidFill>
              </a:defRPr>
            </a:pPr>
            <a:r>
              <a:rPr sz="1800" b="1">
                <a:solidFill>
                  <a:srgbClr val="666A73"/>
                </a:solidFill>
              </a:rPr>
              <a:t>Payments + Portals pod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30D97-6C4B-461C-889A-349E554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9DC5B-F06B-49EE-BC6A-CB1D61A8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A73"/>
                </a:solidFill>
              </a:defRPr>
            </a:pPr>
            <a:r>
              <a:rPr sz="1650" b="0">
                <a:solidFill>
                  <a:srgbClr val="666A73"/>
                </a:solidFill>
              </a:rPr>
              <a:t>Impact created → Cart unblocked → Scope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158F6-D6CD-4834-8E43-B1A24349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A73"/>
                </a:solidFill>
              </a:defRPr>
            </a:pPr>
            <a:r>
              <a:rPr sz="1425" b="0">
                <a:solidFill>
                  <a:srgbClr val="666A73"/>
                </a:solidFill>
              </a:rPr>
              <a:t>Product focus: remove throwaway OMS work, expose gaps, and help Cart move faster.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5A54A-157A-4553-9D50-514F2821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1357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08799-5C0F-44D0-A0B2-93E48EB5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IMPACT CREATED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B329D-7193-4C18-BD71-C9287BA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Six engineers turned recurring failures into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00C1C-7E0D-430F-B93F-02D7C97C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3"/>
                </a:solidFill>
              </a:defRPr>
            </a:pPr>
            <a:r>
              <a:rPr sz="1350" b="0">
                <a:solidFill>
                  <a:srgbClr val="666A73"/>
                </a:solidFill>
              </a:rPr>
              <a:t>4 Portals + 2 Payments | impact spans cost, capacity, reliability, and order progression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DBAF2-B522-45A1-9ACB-15AA6611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3"/>
                </a:solidFill>
              </a:defRPr>
            </a:pPr>
            <a:r>
              <a:rPr sz="1350" b="0">
                <a:solidFill>
                  <a:srgbClr val="666A73"/>
                </a:solidFill>
              </a:rPr>
              <a:t>HA CPO per order — approximate values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4476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db611e6efc4d1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DA6F2-C1C1-441F-8CFA-2D82DDB0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56959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4BB24-308C-4B5F-AAC1-CE5D245C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≈₹67L/month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D9E29-2086-4653-B9C4-4AE2B5EB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A73"/>
                </a:solidFill>
              </a:defRPr>
            </a:pPr>
            <a:r>
              <a:rPr sz="1350" b="1">
                <a:solidFill>
                  <a:srgbClr val="666A73"/>
                </a:solidFill>
              </a:rPr>
              <a:t>Conservative HA CPO saving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BC941-E4C2-47B1-8B36-13FE7F2B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₹8/order/day × 28,000 orders/day × 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51A76-0000-4B05-95A6-E125CC2C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A73"/>
                </a:solidFill>
              </a:defRPr>
            </a:pPr>
            <a:r>
              <a:rPr sz="1050" b="0">
                <a:solidFill>
                  <a:srgbClr val="666A73"/>
                </a:solidFill>
              </a:rPr>
              <a:t>Exact ₹8.7 reduction implies ≈₹73L/month. Verify denominator and period.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3F70F-EEC1-4984-A63E-3F6230FD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A73"/>
                </a:solidFill>
              </a:defRPr>
            </a:pPr>
            <a:r>
              <a:rPr sz="1275" b="1">
                <a:solidFill>
                  <a:srgbClr val="666A73"/>
                </a:solidFill>
              </a:rPr>
              <a:t>Engineering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C9296-4996-4167-B243-432F0FBE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3 engineers regularly pulled into live fixes → 1 on-call now handles most recurring 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25612-459A-43FD-8770-C94F684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6E94E-DB5C-4463-A53D-DFE636E3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A73"/>
                </a:solidFill>
              </a:defRPr>
            </a:pPr>
            <a:r>
              <a:rPr sz="1275" b="1">
                <a:solidFill>
                  <a:srgbClr val="666A73"/>
                </a:solidFill>
              </a:rPr>
              <a:t>Order progression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66331-A7E4-4026-AE9B-F35CB433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Payment-pending: 1,500+ → 200–300/day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BAF47-6B68-47D4-853E-C9F026B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A73"/>
                </a:solidFill>
              </a:defRPr>
            </a:pPr>
            <a:r>
              <a:rPr sz="1275" b="1">
                <a:solidFill>
                  <a:srgbClr val="666A73"/>
                </a:solidFill>
              </a:rPr>
              <a:t>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A423D-768D-4A62-8323-84B57DA3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Confirmation failures: near-zero daily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AFA44-59D1-493B-A51F-747E41DC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A73"/>
                </a:solidFill>
              </a:defRPr>
            </a:pPr>
            <a:r>
              <a:rPr sz="1275" b="1">
                <a:solidFill>
                  <a:srgbClr val="666A73"/>
                </a:solidFill>
              </a:rPr>
              <a:t>Engineering man-days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5E364-D5CC-4CB8-B2ED-E3FA3032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81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4–8 avoided/month from Value-Meds switching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AA3E8-13AC-433E-A9FD-A8C478AF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676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A73"/>
                </a:solidFill>
              </a:defRPr>
            </a:pPr>
            <a:r>
              <a:rPr sz="1050" b="0">
                <a:solidFill>
                  <a:srgbClr val="666A73"/>
                </a:solidFill>
              </a:rPr>
              <a:t>4 incidents/month × 2 engineers × 0.5–1 day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17E82-4BD7-43D3-8FCB-2E2F0303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141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ADD9F-8321-475E-8250-7973CAB7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CART UNBLOCKING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13B3E-FA4D-4341-AD5F-46E22D18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Product is accelerating Cart by removing throwaway OMS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ABE57-C7C1-4E62-9730-CF56857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3"/>
                </a:solidFill>
              </a:defRPr>
            </a:pPr>
            <a:r>
              <a:rPr sz="1500" b="0">
                <a:solidFill>
                  <a:srgbClr val="666A73"/>
                </a:solidFill>
              </a:rPr>
              <a:t>New OMS adoption requires Portal and Payment migration. Product is reducing ambiguity before Engineering builds.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15823-2A37-454F-BAD5-F3595F42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CCF42-B71B-4137-ACB5-BDBECBCB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6A73"/>
                </a:solidFill>
              </a:defRPr>
            </a:pPr>
            <a:r>
              <a:rPr sz="1425" b="1">
                <a:solidFill>
                  <a:srgbClr val="666A73"/>
                </a:solidFill>
              </a:rPr>
              <a:t>Super Doctor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DD471-C515-4F1C-AE22-F23075BF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1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91846-8287-41AB-825B-CE0DCAB6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432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DBCCF-6B90-49FE-B18B-94EC8F1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1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3D8DFF"/>
                </a:solidFill>
              </a:defRPr>
            </a:pPr>
            <a:r>
              <a:rPr sz="5700" b="1">
                <a:solidFill>
                  <a:srgbClr val="3D8DFF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A123F-EF94-4544-9962-DFE0552F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A73"/>
                </a:solidFill>
              </a:defRPr>
            </a:pPr>
            <a:r>
              <a:rPr sz="1275" b="0">
                <a:solidFill>
                  <a:srgbClr val="666A73"/>
                </a:solidFill>
              </a:rPr>
              <a:t>existing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B2448-2419-4D65-AF44-C98295C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67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A73"/>
                </a:solidFill>
              </a:defRPr>
            </a:pPr>
            <a:r>
              <a:rPr sz="1275" b="0">
                <a:solidFill>
                  <a:srgbClr val="666A73"/>
                </a:solidFill>
              </a:rPr>
              <a:t>useful features</a:t>
            </a:r>
          </a:p>
          <a:p xmlns:a="http://schemas.openxmlformats.org/drawingml/2006/main">
            <a:pPr algn="l">
              <a:defRPr sz="1275" b="0">
                <a:solidFill>
                  <a:srgbClr val="666A73"/>
                </a:solidFill>
              </a:defRPr>
            </a:pPr>
            <a:r>
              <a:rPr sz="1275" b="0">
                <a:solidFill>
                  <a:srgbClr val="666A73"/>
                </a:solidFill>
              </a:rPr>
              <a:t>selected for migration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DDABF-B0EB-47B5-8502-CA1AA0D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Product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BA015-8273-482D-A43D-7E11FC78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map actual usage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separate useful from redundant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avoid throwaway development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expose cross-portal gaps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align scope before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B6947-24B4-439D-AC6A-F32CA6B1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96CAD-98EF-4B42-ACC4-AA7D0151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6A73"/>
                </a:solidFill>
              </a:defRPr>
            </a:pPr>
            <a:r>
              <a:rPr sz="1650" b="1">
                <a:solidFill>
                  <a:srgbClr val="666A73"/>
                </a:solidFill>
              </a:rPr>
              <a:t>Result: less rework, faster decisions, quicker Cart delivery with lower migration scope.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445D0-BA96-430D-817F-58BB8EEF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6877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321C7-21E5-4D88-BC9D-CC54B667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ENHANCEMENT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42DA1-590D-48E3-9703-CBA9710D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Migration is exposing a higher-leverage commerce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6468D-DD27-4E1E-840B-19203BFC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3"/>
                </a:solidFill>
              </a:defRPr>
            </a:pPr>
            <a:r>
              <a:rPr sz="1500" b="0">
                <a:solidFill>
                  <a:srgbClr val="666A73"/>
                </a:solidFill>
              </a:rPr>
              <a:t>Enhancements are identified today, not implemented in current phase.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B22EF-5A0A-4D54-B3CE-0E875ACF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E043D-4962-4C59-818F-419EA12F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Call-preference propagation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32F00-0989-487B-AF79-033F418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Customers opting out of HA calls also skip Assisted Commerce calls, except mandatory Doctor calls.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1574B-B897-48FA-8798-267A3527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4483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4FFC7-CF64-4880-A87C-F6488A5D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Configurable agent categorisation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97648-470B-4F18-BA25-16C8EFFD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Categorise agents uniquely across portals and route orders/customers using relevant signals (rule engine).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C97BB-F950-48ED-87BC-A694648D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336BE-DAB4-4531-9047-39E90D1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A73"/>
                </a:solidFill>
              </a:defRPr>
            </a:pPr>
            <a:r>
              <a:rPr sz="1350" b="1">
                <a:solidFill>
                  <a:srgbClr val="666A73"/>
                </a:solidFill>
              </a:rPr>
              <a:t>Longer-term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DD61B-3B77-47B5-B023-095A84C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Unified commerce capabilities across Type 1, Pill Reminder, Assisted Commerce, and CSR journeys.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86072-8BF2-45A2-8C8A-25C4B3D0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150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3"/>
                </a:solidFill>
              </a:defRPr>
            </a:pPr>
            <a:r>
              <a:rPr sz="1350" b="0">
                <a:solidFill>
                  <a:srgbClr val="666A73"/>
                </a:solidFill>
              </a:rPr>
              <a:t>Faster experimentation and GTM with lower recurring Product + Engineering dependency.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2F751-3311-4805-95AD-CA2BDC9E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5102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57085-0B97-40D0-8D65-8DDF8FE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094D9-EE86-4573-94FE-B1BCD060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Protect Cart date or use migration window for selected enhancements?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BFDF4-F56D-4A7F-89F7-FD69EF68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C1CF2-3F10-41DB-B3D5-287B0478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Migrate reduced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A6A0E-5A57-4839-9ADF-3F22470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protect Cart delivery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migrate only useful capability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defer known gaps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accept future rework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EB56B-650F-47DE-81AF-343A7FE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44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D77E6-B646-4427-8031-44166DFF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Enhance + migrate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90B90-4061-4408-944F-71766839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fix selected high-impact gaps now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improve cross-portal capability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reduce future rework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accept Cart-date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FF971-E477-4413-8857-685800AD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C8AA8-5EBE-4C9B-BEC2-D9B4C2B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CEO decision: which scope should this migration phase carry?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FA43E-ABCD-4B39-A5A6-4E1FA370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3892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2026-08-19T09:20:32.5890000Z</dcterms:created>
  <dcterms:modified xsi:type="dcterms:W3CDTF">2026-08-19T09:20:32.5890000Z</dcterms:modified>
</coreProperties>
</file>